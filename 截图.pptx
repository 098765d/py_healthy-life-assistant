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0" r:id="rId1"/>
  </p:sldMasterIdLst>
  <p:notesMasterIdLst>
    <p:notesMasterId r:id="rId20"/>
  </p:notesMasterIdLst>
  <p:sldIdLst>
    <p:sldId id="259" r:id="rId2"/>
    <p:sldId id="301" r:id="rId3"/>
    <p:sldId id="303" r:id="rId4"/>
    <p:sldId id="314" r:id="rId5"/>
    <p:sldId id="305" r:id="rId6"/>
    <p:sldId id="315" r:id="rId7"/>
    <p:sldId id="319" r:id="rId8"/>
    <p:sldId id="312" r:id="rId9"/>
    <p:sldId id="318" r:id="rId10"/>
    <p:sldId id="320" r:id="rId11"/>
    <p:sldId id="326" r:id="rId12"/>
    <p:sldId id="322" r:id="rId13"/>
    <p:sldId id="323" r:id="rId14"/>
    <p:sldId id="325" r:id="rId15"/>
    <p:sldId id="324" r:id="rId16"/>
    <p:sldId id="267" r:id="rId17"/>
    <p:sldId id="327" r:id="rId18"/>
    <p:sldId id="32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8" autoAdjust="0"/>
    <p:restoredTop sz="94660"/>
  </p:normalViewPr>
  <p:slideViewPr>
    <p:cSldViewPr snapToGrid="0">
      <p:cViewPr>
        <p:scale>
          <a:sx n="75" d="100"/>
          <a:sy n="75" d="100"/>
        </p:scale>
        <p:origin x="795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28185-CD5D-4DFC-8B30-7229DCAFCF8D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C5568-726D-408C-BD34-5802353578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871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C5568-726D-408C-BD34-5802353578D4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4260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C5568-726D-408C-BD34-5802353578D4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986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7C69B2E-74BE-4D32-9C48-A748B02B730E}" type="datetime1">
              <a:rPr lang="LID4096" smtClean="0"/>
              <a:t>11/11/2025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930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23A-E848-453C-A6A3-B12D78C77B51}" type="datetime1">
              <a:rPr lang="LID4096" smtClean="0"/>
              <a:t>11/11/2025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633998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58B652E-1F18-42EE-ABB0-2A69EC25B4EB}" type="datetime1">
              <a:rPr lang="LID4096" smtClean="0"/>
              <a:t>11/11/2025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6048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23A-E848-453C-A6A3-B12D78C77B51}" type="datetime1">
              <a:rPr lang="LID4096" smtClean="0"/>
              <a:t>11/11/2025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95487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23A-E848-453C-A6A3-B12D78C77B51}" type="datetime1">
              <a:rPr lang="LID4096" smtClean="0"/>
              <a:t>11/11/2025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0919335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B956-C2C3-40CE-8F87-502DFB50D1B8}" type="datetime1">
              <a:rPr lang="LID4096" smtClean="0"/>
              <a:t>11/11/2025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26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7F43-77E7-44F1-9C55-240FF1BD7D85}" type="datetime1">
              <a:rPr lang="LID4096" smtClean="0"/>
              <a:t>11/11/2025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9491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D8F23A-E848-453C-A6A3-B12D78C77B51}" type="datetime1">
              <a:rPr lang="LID4096" smtClean="0"/>
              <a:t>11/11/2025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0717047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23A-E848-453C-A6A3-B12D78C77B51}" type="datetime1">
              <a:rPr lang="LID4096" smtClean="0"/>
              <a:t>11/11/2025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497631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23A-E848-453C-A6A3-B12D78C77B51}" type="datetime1">
              <a:rPr lang="LID4096" smtClean="0"/>
              <a:t>11/11/2025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458402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D8F23A-E848-453C-A6A3-B12D78C77B51}" type="datetime1">
              <a:rPr lang="LID4096" smtClean="0"/>
              <a:t>11/11/2025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718442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CD8F23A-E848-453C-A6A3-B12D78C77B51}" type="datetime1">
              <a:rPr lang="LID4096" smtClean="0"/>
              <a:t>11/11/2025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35EAF8D-6083-41CF-A859-E70F96C54D0C}" type="slidenum">
              <a:rPr lang="LID4096" smtClean="0"/>
              <a:t>‹#›</a:t>
            </a:fld>
            <a:endParaRPr lang="LID4096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6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duhk.zoom.us/j/93598973860?pwd=dlVHSlpVN1ArY0FoL2xJWDNRU25WQT09" TargetMode="External"/><Relationship Id="rId2" Type="http://schemas.openxmlformats.org/officeDocument/2006/relationships/hyperlink" Target="mailto:cdong@eduhk.hk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00E6A1-83CA-C223-71B9-46A663A23AFA}"/>
              </a:ext>
            </a:extLst>
          </p:cNvPr>
          <p:cNvSpPr txBox="1"/>
          <p:nvPr/>
        </p:nvSpPr>
        <p:spPr>
          <a:xfrm>
            <a:off x="453225" y="863639"/>
            <a:ext cx="1146578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6600" b="1" i="0" u="none" strike="noStrike" dirty="0">
                <a:solidFill>
                  <a:srgbClr val="000000"/>
                </a:solidFill>
                <a:effectLst/>
                <a:latin typeface="+mj-lt"/>
              </a:rPr>
              <a:t>Tech Team Meet</a:t>
            </a:r>
            <a:r>
              <a:rPr lang="en-US" sz="6600" b="1" dirty="0">
                <a:solidFill>
                  <a:srgbClr val="000000"/>
                </a:solidFill>
                <a:latin typeface="+mj-lt"/>
              </a:rPr>
              <a:t>ing</a:t>
            </a:r>
            <a:endParaRPr lang="en-US" sz="6600" b="1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endParaRPr lang="en-US" sz="3200" b="0" i="1" dirty="0">
              <a:effectLst/>
              <a:latin typeface="+mj-lt"/>
            </a:endParaRPr>
          </a:p>
          <a:p>
            <a:pPr rtl="0">
              <a:buNone/>
            </a:pPr>
            <a:br>
              <a:rPr lang="en-US" sz="2800" b="0" dirty="0">
                <a:effectLst/>
                <a:latin typeface="+mj-lt"/>
              </a:rPr>
            </a:br>
            <a:r>
              <a:rPr lang="en-US" sz="2800" b="1" i="1" u="none" strike="noStrike" dirty="0">
                <a:effectLst/>
                <a:latin typeface="+mj-lt"/>
              </a:rPr>
              <a:t>2025 – Nov - 06, </a:t>
            </a:r>
            <a:r>
              <a:rPr lang="en-US" altLang="zh-CN" sz="2800" b="1" i="1" dirty="0">
                <a:latin typeface="+mj-lt"/>
              </a:rPr>
              <a:t>Thursday</a:t>
            </a:r>
            <a:r>
              <a:rPr lang="en-US" sz="2800" b="1" i="1" u="none" strike="noStrike" dirty="0">
                <a:effectLst/>
                <a:latin typeface="+mj-lt"/>
              </a:rPr>
              <a:t>, 9:15 AM</a:t>
            </a:r>
          </a:p>
          <a:p>
            <a:pPr rtl="0">
              <a:buNone/>
            </a:pPr>
            <a:endParaRPr lang="en-US" sz="2800" u="none" strike="noStrike" dirty="0">
              <a:effectLst/>
              <a:latin typeface="+mj-lt"/>
            </a:endParaRPr>
          </a:p>
          <a:p>
            <a:pPr rtl="0">
              <a:buNone/>
            </a:pPr>
            <a:r>
              <a:rPr lang="en-US" sz="2800" u="none" strike="noStrike" dirty="0">
                <a:effectLst/>
                <a:latin typeface="+mj-lt"/>
              </a:rPr>
              <a:t>Dong Chenxi, </a:t>
            </a:r>
            <a:r>
              <a:rPr lang="en-US" sz="2800" dirty="0">
                <a:latin typeface="+mj-lt"/>
              </a:rPr>
              <a:t>S</a:t>
            </a:r>
            <a:r>
              <a:rPr lang="en-US" sz="2800" u="none" strike="noStrike" dirty="0">
                <a:effectLst/>
                <a:latin typeface="+mj-lt"/>
              </a:rPr>
              <a:t>RA, MIT Department</a:t>
            </a:r>
            <a:r>
              <a:rPr lang="en-US" sz="2800" dirty="0">
                <a:latin typeface="+mj-lt"/>
              </a:rPr>
              <a:t>. </a:t>
            </a:r>
            <a:r>
              <a:rPr lang="en-US" sz="2800" u="sng" strike="noStrike" dirty="0">
                <a:effectLst/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cdong@eduhk.hk</a:t>
            </a:r>
            <a:endParaRPr lang="en-US" sz="2800" u="sng" strike="noStrike" dirty="0">
              <a:effectLst/>
              <a:latin typeface="+mj-lt"/>
            </a:endParaRPr>
          </a:p>
          <a:p>
            <a:pPr rtl="0">
              <a:buNone/>
            </a:pPr>
            <a:endParaRPr lang="en-US" sz="2800" dirty="0">
              <a:effectLst/>
              <a:latin typeface="+mj-lt"/>
            </a:endParaRPr>
          </a:p>
          <a:p>
            <a:br>
              <a:rPr lang="en-US" sz="2800" b="0" dirty="0">
                <a:effectLst/>
                <a:latin typeface="+mj-lt"/>
              </a:rPr>
            </a:b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+mj-lt"/>
              </a:rPr>
              <a:t>ZOOM Meeting</a:t>
            </a:r>
            <a:r>
              <a:rPr lang="en-US" sz="2400" i="1" dirty="0">
                <a:solidFill>
                  <a:srgbClr val="000000"/>
                </a:solidFill>
                <a:latin typeface="+mj-lt"/>
              </a:rPr>
              <a:t>:</a:t>
            </a:r>
            <a:r>
              <a:rPr lang="en-US" sz="2400" i="1" u="sng" dirty="0">
                <a:solidFill>
                  <a:srgbClr val="0097A7"/>
                </a:solidFill>
                <a:latin typeface="+mj-lt"/>
                <a:hlinkClick r:id="rId3"/>
              </a:rPr>
              <a:t> https://eduhk.zoom.us/j/93598973860?pwd=dlVHSlpVN1ArY0FoL2xJWDNRU25WQT09</a:t>
            </a:r>
            <a:endParaRPr lang="en-US" sz="2800" dirty="0"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7735B5-EA78-DA5F-D679-4BDB7060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9080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E36B2E-A530-2E8F-1DBA-D93DD576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2</a:t>
            </a:fld>
            <a:endParaRPr lang="LID4096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0BCC917-D58B-D2C2-DC66-358778149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878440"/>
              </p:ext>
            </p:extLst>
          </p:nvPr>
        </p:nvGraphicFramePr>
        <p:xfrm>
          <a:off x="178947" y="869929"/>
          <a:ext cx="10217581" cy="373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233">
                  <a:extLst>
                    <a:ext uri="{9D8B030D-6E8A-4147-A177-3AD203B41FA5}">
                      <a16:colId xmlns:a16="http://schemas.microsoft.com/office/drawing/2014/main" val="3228199125"/>
                    </a:ext>
                  </a:extLst>
                </a:gridCol>
                <a:gridCol w="736055">
                  <a:extLst>
                    <a:ext uri="{9D8B030D-6E8A-4147-A177-3AD203B41FA5}">
                      <a16:colId xmlns:a16="http://schemas.microsoft.com/office/drawing/2014/main" val="124406368"/>
                    </a:ext>
                  </a:extLst>
                </a:gridCol>
                <a:gridCol w="800411">
                  <a:extLst>
                    <a:ext uri="{9D8B030D-6E8A-4147-A177-3AD203B41FA5}">
                      <a16:colId xmlns:a16="http://schemas.microsoft.com/office/drawing/2014/main" val="1061518063"/>
                    </a:ext>
                  </a:extLst>
                </a:gridCol>
                <a:gridCol w="8280882">
                  <a:extLst>
                    <a:ext uri="{9D8B030D-6E8A-4147-A177-3AD203B41FA5}">
                      <a16:colId xmlns:a16="http://schemas.microsoft.com/office/drawing/2014/main" val="1912761559"/>
                    </a:ext>
                  </a:extLst>
                </a:gridCol>
              </a:tblGrid>
              <a:tr h="1651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No.</a:t>
                      </a:r>
                    </a:p>
                  </a:txBody>
                  <a:tcPr marL="5210" marR="5210" marT="521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Faculty</a:t>
                      </a: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Prog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Program 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177487"/>
                  </a:ext>
                </a:extLst>
              </a:tr>
              <a:tr h="165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5210" marR="5210" marT="521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FEHD</a:t>
                      </a: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A2B102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Bachelor of Arts (Hons) in Early Childhood and Family Studies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336115"/>
                  </a:ext>
                </a:extLst>
              </a:tr>
              <a:tr h="165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5210" marR="5210" marT="521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FEHD</a:t>
                      </a: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A2B104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Bachelor of Science (Hons) in Executive Management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817174"/>
                  </a:ext>
                </a:extLst>
              </a:tr>
              <a:tr h="165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5210" marR="5210" marT="521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FLASS</a:t>
                      </a: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A2B103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Bachelor of Social Sciences (Hons) in Social Entrepreneurship and Development Studies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714310"/>
                  </a:ext>
                </a:extLst>
              </a:tr>
              <a:tr h="165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5210" marR="5210" marT="521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FLASS</a:t>
                      </a: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+mn-lt"/>
                        </a:rPr>
                        <a:t>A2B101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Bachelor of Social Sciences (Hons) in Sociology and Community Studies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5210" marR="5210" marT="52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62707"/>
                  </a:ext>
                </a:extLst>
              </a:tr>
              <a:tr h="1653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5443" marR="5443" marT="5443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FEHD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A4B075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Bachelor of Social Sciences (Hons) in Psychology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949165"/>
                  </a:ext>
                </a:extLst>
              </a:tr>
              <a:tr h="1653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5443" marR="5443" marT="5443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FEHD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A4B097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Bachelor of Arts (Hons) in Heritage Education and Arts Management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976711"/>
                  </a:ext>
                </a:extLst>
              </a:tr>
              <a:tr h="1653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5443" marR="5443" marT="5443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FEHD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A4B092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Bachelor of Science (Hons) in Integrated Environmental Management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3844"/>
                  </a:ext>
                </a:extLst>
              </a:tr>
              <a:tr h="1653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5443" marR="5443" marT="5443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FEHD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A4B086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Bachelor of Arts (Hons) in Special Education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707246"/>
                  </a:ext>
                </a:extLst>
              </a:tr>
              <a:tr h="1653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5443" marR="5443" marT="5443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FHM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A4B068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Bachelor of Arts (Hons) in Creative Arts and Culture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548852"/>
                  </a:ext>
                </a:extLst>
              </a:tr>
              <a:tr h="2200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5443" marR="5443" marT="5443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FHM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A4B093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Bachelor of Arts (Hons) in English Studies and Digital Communication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183615"/>
                  </a:ext>
                </a:extLst>
              </a:tr>
              <a:tr h="1653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5443" marR="5443" marT="5443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FHM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A4B087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Bachelor of Arts (Hons) in Teaching Chinese as a Second Language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135532"/>
                  </a:ext>
                </a:extLst>
              </a:tr>
              <a:tr h="1653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5443" marR="5443" marT="5443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FHM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A4B067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Bachelor of Arts (Hons) in Language Studies (Chinese/English Major)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230810"/>
                  </a:ext>
                </a:extLst>
              </a:tr>
              <a:tr h="1653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5443" marR="5443" marT="5443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FLASS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A4B095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Bachelor of Science (Hons) in Artificial Intelligence and Educational Technology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328991"/>
                  </a:ext>
                </a:extLst>
              </a:tr>
              <a:tr h="1653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5443" marR="5443" marT="5443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FLASS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A4B096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Bachelor of Science (Hons) in Sports Science and Coaching</a:t>
                      </a:r>
                    </a:p>
                  </a:txBody>
                  <a:tcPr marL="5443" marR="5443" marT="544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06277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6E526B6-B663-C740-532B-27D3B127389C}"/>
              </a:ext>
            </a:extLst>
          </p:cNvPr>
          <p:cNvSpPr txBox="1"/>
          <p:nvPr/>
        </p:nvSpPr>
        <p:spPr>
          <a:xfrm>
            <a:off x="253577" y="4824690"/>
            <a:ext cx="117594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14 consistent programs, Cohorts 2022 &amp; 2023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4(2-Yr program) + 10(4-Yr Program)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FEHD = 6; FLASS=4; FHM=4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53516C-817B-D153-79DD-334019680E03}"/>
              </a:ext>
            </a:extLst>
          </p:cNvPr>
          <p:cNvSpPr txBox="1"/>
          <p:nvPr/>
        </p:nvSpPr>
        <p:spPr>
          <a:xfrm>
            <a:off x="79672" y="0"/>
            <a:ext cx="78411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CRAC Project – Senior Students Data</a:t>
            </a:r>
          </a:p>
        </p:txBody>
      </p:sp>
    </p:spTree>
    <p:extLst>
      <p:ext uri="{BB962C8B-B14F-4D97-AF65-F5344CB8AC3E}">
        <p14:creationId xmlns:p14="http://schemas.microsoft.com/office/powerpoint/2010/main" val="3071719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9034F-E45C-E37C-C78B-C3DDB9BC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A18A7-8F5F-B44F-A3AD-3EAFF68E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558"/>
            <a:ext cx="12192000" cy="1691183"/>
          </a:xfrm>
        </p:spPr>
        <p:txBody>
          <a:bodyPr>
            <a:normAutofit/>
          </a:bodyPr>
          <a:lstStyle/>
          <a:p>
            <a:r>
              <a:rPr lang="en-US" dirty="0"/>
              <a:t>CRAC: Cleaning Data for: Registry Senior Intake Students</a:t>
            </a:r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F378A9-7399-5EF3-6B74-EA0B3F6E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3</a:t>
            </a:fld>
            <a:endParaRPr lang="LID4096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E59011-EB49-4C6F-1352-25DA09A785B1}"/>
              </a:ext>
            </a:extLst>
          </p:cNvPr>
          <p:cNvSpPr txBox="1"/>
          <p:nvPr/>
        </p:nvSpPr>
        <p:spPr>
          <a:xfrm>
            <a:off x="735660" y="3151147"/>
            <a:ext cx="2544417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2. Clean &amp; Processing Registry Senior Data</a:t>
            </a:r>
            <a:endParaRPr lang="LID4096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F86A9A-283B-07BF-946A-D9E20EA1C7EC}"/>
              </a:ext>
            </a:extLst>
          </p:cNvPr>
          <p:cNvSpPr txBox="1"/>
          <p:nvPr/>
        </p:nvSpPr>
        <p:spPr>
          <a:xfrm>
            <a:off x="8931302" y="3064638"/>
            <a:ext cx="2790908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1. Download program data from the </a:t>
            </a:r>
            <a:r>
              <a:rPr lang="en-US" sz="2000" dirty="0" err="1"/>
              <a:t>eAPR</a:t>
            </a:r>
            <a:r>
              <a:rPr lang="en-US" sz="2000" dirty="0"/>
              <a:t> API</a:t>
            </a:r>
            <a:endParaRPr lang="LID4096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DA1F0C-F22E-AEA3-00A5-51FD8CD6FEE3}"/>
              </a:ext>
            </a:extLst>
          </p:cNvPr>
          <p:cNvSpPr txBox="1"/>
          <p:nvPr/>
        </p:nvSpPr>
        <p:spPr>
          <a:xfrm>
            <a:off x="8610600" y="4157598"/>
            <a:ext cx="3427675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2. Rebuild Code Modules:</a:t>
            </a:r>
          </a:p>
          <a:p>
            <a:endParaRPr lang="en-US" sz="2000" dirty="0"/>
          </a:p>
          <a:p>
            <a:r>
              <a:rPr lang="en-US" sz="2000" dirty="0"/>
              <a:t>9 files -&gt; 2 intermediate files</a:t>
            </a:r>
          </a:p>
          <a:p>
            <a:r>
              <a:rPr lang="en-US" sz="2000" dirty="0"/>
              <a:t>(especially for the 2-Year Program, code logic changed)</a:t>
            </a:r>
          </a:p>
          <a:p>
            <a:endParaRPr lang="LID4096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C725A1-7CA1-F88F-1496-56E0575E72D5}"/>
              </a:ext>
            </a:extLst>
          </p:cNvPr>
          <p:cNvSpPr txBox="1"/>
          <p:nvPr/>
        </p:nvSpPr>
        <p:spPr>
          <a:xfrm>
            <a:off x="564543" y="4456164"/>
            <a:ext cx="2886653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3. Cleaned Registry Data: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College Score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Info before </a:t>
            </a:r>
            <a:r>
              <a:rPr lang="en-US" altLang="zh-CN" sz="2000" dirty="0"/>
              <a:t>enter University</a:t>
            </a:r>
            <a:endParaRPr 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F3C2C8-65B5-801B-EAD0-3140D6EBA89F}"/>
              </a:ext>
            </a:extLst>
          </p:cNvPr>
          <p:cNvSpPr txBox="1"/>
          <p:nvPr/>
        </p:nvSpPr>
        <p:spPr>
          <a:xfrm>
            <a:off x="6070483" y="4773151"/>
            <a:ext cx="2111402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3. Processed Data</a:t>
            </a:r>
          </a:p>
          <a:p>
            <a:r>
              <a:rPr lang="en-US" sz="2000" dirty="0"/>
              <a:t>-University Record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B1A6A052-2244-43A4-2BE8-51E6EA9F470F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rot="16200000" flipH="1">
            <a:off x="1709304" y="4157597"/>
            <a:ext cx="597131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794AF766-DA28-823B-C9F3-56610CC22D8A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10133060" y="3963902"/>
            <a:ext cx="385074" cy="23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8A6975F-7B1D-8A44-2460-CF2406C6427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451196" y="5117884"/>
            <a:ext cx="2619287" cy="92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486B135E-E3A2-DC4C-BE34-6AAB5B870961}"/>
              </a:ext>
            </a:extLst>
          </p:cNvPr>
          <p:cNvSpPr txBox="1"/>
          <p:nvPr/>
        </p:nvSpPr>
        <p:spPr>
          <a:xfrm>
            <a:off x="3581400" y="5157871"/>
            <a:ext cx="2358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4. Link </a:t>
            </a:r>
            <a:r>
              <a:rPr lang="en-US" altLang="zh-CN" dirty="0" err="1">
                <a:solidFill>
                  <a:srgbClr val="0070C0"/>
                </a:solidFill>
              </a:rPr>
              <a:t>Dataframe</a:t>
            </a:r>
            <a:r>
              <a:rPr lang="en-US" altLang="zh-CN" dirty="0">
                <a:solidFill>
                  <a:srgbClr val="0070C0"/>
                </a:solidFill>
              </a:rPr>
              <a:t> via SID</a:t>
            </a:r>
            <a:endParaRPr lang="LID4096" dirty="0">
              <a:solidFill>
                <a:srgbClr val="0070C0"/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E107DFA-67A1-5FAE-DD48-4EA2C151DEDA}"/>
              </a:ext>
            </a:extLst>
          </p:cNvPr>
          <p:cNvCxnSpPr>
            <a:cxnSpLocks/>
            <a:stCxn id="6" idx="1"/>
            <a:endCxn id="8" idx="3"/>
          </p:cNvCxnSpPr>
          <p:nvPr/>
        </p:nvCxnSpPr>
        <p:spPr>
          <a:xfrm flipH="1">
            <a:off x="8181885" y="5127094"/>
            <a:ext cx="4287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4549DE97-4297-A159-95DB-D30AC93EF039}"/>
              </a:ext>
            </a:extLst>
          </p:cNvPr>
          <p:cNvSpPr txBox="1"/>
          <p:nvPr/>
        </p:nvSpPr>
        <p:spPr>
          <a:xfrm>
            <a:off x="564543" y="2016079"/>
            <a:ext cx="2886652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/>
              <a:t>Registry Data (14 Programs)</a:t>
            </a:r>
            <a:endParaRPr lang="LID4096" sz="2000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A1A48A7-BF14-846F-2388-5BA6899D1F6C}"/>
              </a:ext>
            </a:extLst>
          </p:cNvPr>
          <p:cNvCxnSpPr>
            <a:cxnSpLocks/>
            <a:stCxn id="32" idx="2"/>
            <a:endCxn id="3" idx="0"/>
          </p:cNvCxnSpPr>
          <p:nvPr/>
        </p:nvCxnSpPr>
        <p:spPr>
          <a:xfrm>
            <a:off x="2007869" y="2723965"/>
            <a:ext cx="0" cy="4271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CCCD251-5C95-E31D-D5C2-42857A311121}"/>
              </a:ext>
            </a:extLst>
          </p:cNvPr>
          <p:cNvSpPr txBox="1"/>
          <p:nvPr/>
        </p:nvSpPr>
        <p:spPr>
          <a:xfrm>
            <a:off x="5176880" y="1862191"/>
            <a:ext cx="261928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5. Merged &amp; Processed Senior Students Data</a:t>
            </a:r>
            <a:endParaRPr lang="LID4096" sz="2000" b="1" dirty="0"/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E3529681-6EE9-D315-7326-3694094B4D9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97991" y="3448205"/>
            <a:ext cx="2941737" cy="4160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33F5FC4C-764E-DC19-7FBE-01D3C2E44373}"/>
              </a:ext>
            </a:extLst>
          </p:cNvPr>
          <p:cNvSpPr txBox="1"/>
          <p:nvPr/>
        </p:nvSpPr>
        <p:spPr>
          <a:xfrm>
            <a:off x="8396242" y="2018072"/>
            <a:ext cx="152252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6. Analysis</a:t>
            </a:r>
            <a:endParaRPr lang="LID4096" sz="2000" dirty="0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52D2A5BF-0125-8DE4-DBE1-E5B71EF5EF5B}"/>
              </a:ext>
            </a:extLst>
          </p:cNvPr>
          <p:cNvCxnSpPr>
            <a:cxnSpLocks/>
            <a:stCxn id="45" idx="3"/>
            <a:endCxn id="71" idx="1"/>
          </p:cNvCxnSpPr>
          <p:nvPr/>
        </p:nvCxnSpPr>
        <p:spPr>
          <a:xfrm>
            <a:off x="7796166" y="2216134"/>
            <a:ext cx="600076" cy="1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10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ADF04E-5636-3F63-15A6-4FAF7EFB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4</a:t>
            </a:fld>
            <a:endParaRPr lang="LID4096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25A62A-90F4-54B0-F302-8622687B7804}"/>
              </a:ext>
            </a:extLst>
          </p:cNvPr>
          <p:cNvSpPr txBox="1"/>
          <p:nvPr/>
        </p:nvSpPr>
        <p:spPr>
          <a:xfrm>
            <a:off x="0" y="0"/>
            <a:ext cx="1229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1. Program–Specific Analysis </a:t>
            </a:r>
            <a:r>
              <a:rPr lang="en-US" altLang="zh-CN" sz="3600" dirty="0"/>
              <a:t>OR </a:t>
            </a:r>
            <a:r>
              <a:rPr lang="en-US" altLang="zh-CN" sz="3600" b="1" dirty="0"/>
              <a:t>2. Program-Agnostic Analysis</a:t>
            </a:r>
            <a:endParaRPr lang="LID4096" sz="3600" b="1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F046265-4EC4-4E65-4B10-82DD546E2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478210"/>
              </p:ext>
            </p:extLst>
          </p:nvPr>
        </p:nvGraphicFramePr>
        <p:xfrm>
          <a:off x="227194" y="722520"/>
          <a:ext cx="3431062" cy="5412960"/>
        </p:xfrm>
        <a:graphic>
          <a:graphicData uri="http://schemas.openxmlformats.org/drawingml/2006/table">
            <a:tbl>
              <a:tblPr/>
              <a:tblGrid>
                <a:gridCol w="445480">
                  <a:extLst>
                    <a:ext uri="{9D8B030D-6E8A-4147-A177-3AD203B41FA5}">
                      <a16:colId xmlns:a16="http://schemas.microsoft.com/office/drawing/2014/main" val="2764117511"/>
                    </a:ext>
                  </a:extLst>
                </a:gridCol>
                <a:gridCol w="1054405">
                  <a:extLst>
                    <a:ext uri="{9D8B030D-6E8A-4147-A177-3AD203B41FA5}">
                      <a16:colId xmlns:a16="http://schemas.microsoft.com/office/drawing/2014/main" val="2667244851"/>
                    </a:ext>
                  </a:extLst>
                </a:gridCol>
                <a:gridCol w="868641">
                  <a:extLst>
                    <a:ext uri="{9D8B030D-6E8A-4147-A177-3AD203B41FA5}">
                      <a16:colId xmlns:a16="http://schemas.microsoft.com/office/drawing/2014/main" val="3385703099"/>
                    </a:ext>
                  </a:extLst>
                </a:gridCol>
                <a:gridCol w="1062536">
                  <a:extLst>
                    <a:ext uri="{9D8B030D-6E8A-4147-A177-3AD203B41FA5}">
                      <a16:colId xmlns:a16="http://schemas.microsoft.com/office/drawing/2014/main" val="4008481888"/>
                    </a:ext>
                  </a:extLst>
                </a:gridCol>
              </a:tblGrid>
              <a:tr h="316686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Cohort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4170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A2B101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758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A2B102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81019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A2B103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83774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A2B104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6830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A4B067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89128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A4B068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93389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A4B075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55370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A4B086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382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A4B087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72449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A4B092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69588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A4B093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4971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A4B095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05301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A4B096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10519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A4B097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60337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Hans-HK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49908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9D9E7FC-4027-FAAD-8BFE-C35AF7C2B4D5}"/>
              </a:ext>
            </a:extLst>
          </p:cNvPr>
          <p:cNvSpPr txBox="1"/>
          <p:nvPr/>
        </p:nvSpPr>
        <p:spPr>
          <a:xfrm>
            <a:off x="3882572" y="646331"/>
            <a:ext cx="830942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400" b="1" dirty="0"/>
              <a:t>Program Specific Analysis</a:t>
            </a:r>
          </a:p>
          <a:p>
            <a:pPr marL="457200" indent="-457200"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Individual programs do not have enough data size (N&lt;30) </a:t>
            </a:r>
            <a:r>
              <a:rPr lang="en-US" sz="2400" dirty="0"/>
              <a:t>for stable analysis to convince people.</a:t>
            </a:r>
          </a:p>
          <a:p>
            <a:pPr marL="457200" indent="-457200">
              <a:buFontTx/>
              <a:buChar char="-"/>
            </a:pPr>
            <a:r>
              <a:rPr lang="en-US" sz="2400" dirty="0"/>
              <a:t>Lots of programs </a:t>
            </a:r>
            <a:r>
              <a:rPr lang="en-US" sz="2400" dirty="0" err="1"/>
              <a:t>donot</a:t>
            </a:r>
            <a:r>
              <a:rPr lang="en-US" sz="2400" dirty="0"/>
              <a:t> have any at-risks</a:t>
            </a:r>
          </a:p>
          <a:p>
            <a:r>
              <a:rPr lang="en-US" sz="2400" b="1" dirty="0"/>
              <a:t>2. Program-</a:t>
            </a:r>
            <a:r>
              <a:rPr lang="en-US" altLang="zh-CN" sz="2400" b="1" dirty="0"/>
              <a:t>Agnostic Analysis</a:t>
            </a:r>
          </a:p>
          <a:p>
            <a:pPr marL="457200" indent="-457200">
              <a:buFontTx/>
              <a:buChar char="-"/>
            </a:pPr>
            <a:r>
              <a:rPr lang="en-US" altLang="zh-CN" sz="2400" dirty="0"/>
              <a:t>Pros: If we merge the program data, the size will be enough. E.g., Cohort 2022, N = 451, Cohort 2023, N= 442.</a:t>
            </a:r>
          </a:p>
          <a:p>
            <a:pPr marL="457200" indent="-457200">
              <a:buFontTx/>
              <a:buChar char="-"/>
            </a:pPr>
            <a:r>
              <a:rPr lang="en-US" altLang="zh-CN" sz="2400" dirty="0"/>
              <a:t>Miss program-specific pattern</a:t>
            </a:r>
          </a:p>
          <a:p>
            <a:pPr marL="457200" indent="-457200">
              <a:buFontTx/>
              <a:buChar char="-"/>
            </a:pPr>
            <a:endParaRPr lang="en-US" altLang="zh-CN" sz="2400" dirty="0"/>
          </a:p>
          <a:p>
            <a:r>
              <a:rPr lang="en-US" altLang="zh-CN" sz="2400" dirty="0"/>
              <a:t>Possible Way</a:t>
            </a:r>
          </a:p>
          <a:p>
            <a:pPr marL="514350" indent="-514350">
              <a:buAutoNum type="arabicPeriod"/>
            </a:pPr>
            <a:r>
              <a:rPr lang="en-US" sz="2400" b="1" dirty="0"/>
              <a:t>Program Specific Analysis – Descriptive Analysis</a:t>
            </a:r>
          </a:p>
          <a:p>
            <a:pPr marL="971550" lvl="1" indent="-514350">
              <a:buAutoNum type="arabicPeriod"/>
            </a:pPr>
            <a:r>
              <a:rPr lang="en-US" sz="2400" dirty="0"/>
              <a:t>Visualizations, Exploratory Data Analysis</a:t>
            </a:r>
          </a:p>
          <a:p>
            <a:pPr marL="971550" lvl="1" indent="-514350">
              <a:buAutoNum type="arabicPeriod"/>
            </a:pPr>
            <a:r>
              <a:rPr lang="en-US" sz="2400" dirty="0"/>
              <a:t>Correlated course for specific program</a:t>
            </a:r>
          </a:p>
          <a:p>
            <a:pPr marL="514350" indent="-514350">
              <a:buAutoNum type="arabicPeriod"/>
            </a:pPr>
            <a:r>
              <a:rPr lang="en-US" sz="2400" b="1" dirty="0"/>
              <a:t>Program-</a:t>
            </a:r>
            <a:r>
              <a:rPr lang="en-US" altLang="zh-CN" sz="2400" b="1" dirty="0"/>
              <a:t>Agnostic Analysis – Predictive Analysis</a:t>
            </a:r>
          </a:p>
          <a:p>
            <a:pPr marL="971550" lvl="1" indent="-514350">
              <a:buAutoNum type="arabicPeriod"/>
            </a:pPr>
            <a:r>
              <a:rPr lang="en-US" sz="2400" dirty="0"/>
              <a:t>Predict 2</a:t>
            </a:r>
            <a:r>
              <a:rPr lang="en-US" altLang="zh-CN" sz="2400" baseline="30000" dirty="0"/>
              <a:t>nd</a:t>
            </a:r>
            <a:r>
              <a:rPr lang="en-US" altLang="zh-CN" sz="2400" dirty="0"/>
              <a:t> Yr GPA ~ X</a:t>
            </a:r>
          </a:p>
          <a:p>
            <a:pPr marL="971550" lvl="1" indent="-514350">
              <a:buAutoNum type="arabicPeriod"/>
            </a:pPr>
            <a:r>
              <a:rPr lang="en-US" sz="2400" dirty="0"/>
              <a:t>Map 1</a:t>
            </a:r>
            <a:r>
              <a:rPr lang="en-US" sz="2400" baseline="30000" dirty="0"/>
              <a:t>st</a:t>
            </a:r>
            <a:r>
              <a:rPr lang="en-US" sz="2400" dirty="0"/>
              <a:t> Yr GPA ~ College GPA</a:t>
            </a:r>
          </a:p>
        </p:txBody>
      </p:sp>
    </p:spTree>
    <p:extLst>
      <p:ext uri="{BB962C8B-B14F-4D97-AF65-F5344CB8AC3E}">
        <p14:creationId xmlns:p14="http://schemas.microsoft.com/office/powerpoint/2010/main" val="2250505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5F02F-E443-8102-FFF9-F9624B94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54" y="95164"/>
            <a:ext cx="10515600" cy="826936"/>
          </a:xfrm>
        </p:spPr>
        <p:txBody>
          <a:bodyPr>
            <a:normAutofit/>
          </a:bodyPr>
          <a:lstStyle/>
          <a:p>
            <a:r>
              <a:rPr lang="en-US" dirty="0"/>
              <a:t>Possible Analysis for Senior Students Data</a:t>
            </a:r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A82D62-D0DD-6428-E602-A9B9584D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5</a:t>
            </a:fld>
            <a:endParaRPr lang="LID4096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3B77E1-22E2-F532-3408-E235760D6377}"/>
              </a:ext>
            </a:extLst>
          </p:cNvPr>
          <p:cNvSpPr txBox="1"/>
          <p:nvPr/>
        </p:nvSpPr>
        <p:spPr>
          <a:xfrm>
            <a:off x="294198" y="1086389"/>
            <a:ext cx="1150553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Predictive Task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Task 1: Prediction for Senior Students Gd GPA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Y = 2</a:t>
            </a:r>
            <a:r>
              <a:rPr lang="en-US" sz="2400" baseline="30000" dirty="0"/>
              <a:t>ND</a:t>
            </a:r>
            <a:r>
              <a:rPr lang="en-US" sz="2400" dirty="0"/>
              <a:t> Yr GPA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X = 1</a:t>
            </a:r>
            <a:r>
              <a:rPr lang="en-US" sz="2400" baseline="30000" dirty="0"/>
              <a:t>st</a:t>
            </a:r>
            <a:r>
              <a:rPr lang="en-US" sz="2400" dirty="0"/>
              <a:t> Yr GPA + Pre-Uni Record (College GPA)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Task 2: Admission Related Analysis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Y = 1</a:t>
            </a:r>
            <a:r>
              <a:rPr lang="en-US" sz="2400" baseline="30000" dirty="0"/>
              <a:t>st</a:t>
            </a:r>
            <a:r>
              <a:rPr lang="en-US" sz="2400" dirty="0"/>
              <a:t> Yr GPA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X = Pre-Uni Record (College GPA)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Exploratory Data Analysis &amp; Vis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College ~ EduHK Performance (Grad GPA)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Program Specific Analysis (Correlated/Impactful Courses for each Program)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3536917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2AB2E-08D6-5DF3-F65C-0569AD24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Descriptive &amp; Exploratory Data Analysis</a:t>
            </a:r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D9DCB6-E0F5-5781-BB7F-F01945EF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4308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06819-0FED-356B-3695-59275FF5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9F9CD-6169-BEA8-5212-3F8A39C2D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Descriptive &amp; Exploratory Data Analysis – Program Specific</a:t>
            </a:r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6D1901-3B18-EC4B-B5E0-921868E0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837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F7A8301-D46E-91F8-EE64-05DEFE1F8CB6}"/>
              </a:ext>
            </a:extLst>
          </p:cNvPr>
          <p:cNvSpPr txBox="1"/>
          <p:nvPr/>
        </p:nvSpPr>
        <p:spPr>
          <a:xfrm>
            <a:off x="8041420" y="1737170"/>
            <a:ext cx="4177084" cy="393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dirty="0"/>
              <a:t>Programs with more At-Risk: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A4B093-BA(</a:t>
            </a:r>
            <a:r>
              <a:rPr lang="en-US" altLang="zh-CN" sz="2000" dirty="0" err="1"/>
              <a:t>Honours</a:t>
            </a:r>
            <a:r>
              <a:rPr lang="en-US" altLang="zh-CN" sz="2000" dirty="0"/>
              <a:t>) in English Studies and Digital Communication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A4B075-BSocSc(</a:t>
            </a:r>
            <a:r>
              <a:rPr lang="en-US" sz="2000" dirty="0" err="1"/>
              <a:t>Honours</a:t>
            </a:r>
            <a:r>
              <a:rPr lang="en-US" sz="2000" dirty="0"/>
              <a:t>) in Psychology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A4B068-BA(</a:t>
            </a:r>
            <a:r>
              <a:rPr lang="en-US" sz="2000" dirty="0" err="1"/>
              <a:t>Honours</a:t>
            </a:r>
            <a:r>
              <a:rPr lang="en-US" sz="2000" dirty="0"/>
              <a:t>) in Creative Arts and Culture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A2B103-BSocSc (</a:t>
            </a:r>
            <a:r>
              <a:rPr lang="en-US" sz="2000" dirty="0" err="1"/>
              <a:t>Honours</a:t>
            </a:r>
            <a:r>
              <a:rPr lang="en-US" sz="2000" dirty="0"/>
              <a:t>) in Social Entrepreneurship and Development Studies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LID4096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59AAB8-0265-1026-E6A2-7C2F7F78B96D}"/>
              </a:ext>
            </a:extLst>
          </p:cNvPr>
          <p:cNvSpPr txBox="1"/>
          <p:nvPr/>
        </p:nvSpPr>
        <p:spPr>
          <a:xfrm>
            <a:off x="8213698" y="461175"/>
            <a:ext cx="3832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Cohorts 2022 and 2023</a:t>
            </a:r>
          </a:p>
          <a:p>
            <a:r>
              <a:rPr lang="en-US" sz="2400" dirty="0"/>
              <a:t>N = 893, Total At-Risk = 21 (2.35%)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3C29E10-EC9B-44E3-F1AF-58905193F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2" y="202468"/>
            <a:ext cx="7928901" cy="630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977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7B09F5-4088-2250-5AE7-F2E075950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9</a:t>
            </a:fld>
            <a:endParaRPr lang="LID4096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4088FC4-83E1-6276-551D-57B273DA0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184863"/>
              </p:ext>
            </p:extLst>
          </p:nvPr>
        </p:nvGraphicFramePr>
        <p:xfrm>
          <a:off x="103465" y="136525"/>
          <a:ext cx="11925053" cy="3983085"/>
        </p:xfrm>
        <a:graphic>
          <a:graphicData uri="http://schemas.openxmlformats.org/drawingml/2006/table">
            <a:tbl>
              <a:tblPr/>
              <a:tblGrid>
                <a:gridCol w="1064452">
                  <a:extLst>
                    <a:ext uri="{9D8B030D-6E8A-4147-A177-3AD203B41FA5}">
                      <a16:colId xmlns:a16="http://schemas.microsoft.com/office/drawing/2014/main" val="264192945"/>
                    </a:ext>
                  </a:extLst>
                </a:gridCol>
                <a:gridCol w="373986">
                  <a:extLst>
                    <a:ext uri="{9D8B030D-6E8A-4147-A177-3AD203B41FA5}">
                      <a16:colId xmlns:a16="http://schemas.microsoft.com/office/drawing/2014/main" val="852975626"/>
                    </a:ext>
                  </a:extLst>
                </a:gridCol>
                <a:gridCol w="1179526">
                  <a:extLst>
                    <a:ext uri="{9D8B030D-6E8A-4147-A177-3AD203B41FA5}">
                      <a16:colId xmlns:a16="http://schemas.microsoft.com/office/drawing/2014/main" val="596521870"/>
                    </a:ext>
                  </a:extLst>
                </a:gridCol>
                <a:gridCol w="837130">
                  <a:extLst>
                    <a:ext uri="{9D8B030D-6E8A-4147-A177-3AD203B41FA5}">
                      <a16:colId xmlns:a16="http://schemas.microsoft.com/office/drawing/2014/main" val="1906237823"/>
                    </a:ext>
                  </a:extLst>
                </a:gridCol>
                <a:gridCol w="846658">
                  <a:extLst>
                    <a:ext uri="{9D8B030D-6E8A-4147-A177-3AD203B41FA5}">
                      <a16:colId xmlns:a16="http://schemas.microsoft.com/office/drawing/2014/main" val="2552799163"/>
                    </a:ext>
                  </a:extLst>
                </a:gridCol>
                <a:gridCol w="1050110">
                  <a:extLst>
                    <a:ext uri="{9D8B030D-6E8A-4147-A177-3AD203B41FA5}">
                      <a16:colId xmlns:a16="http://schemas.microsoft.com/office/drawing/2014/main" val="587998109"/>
                    </a:ext>
                  </a:extLst>
                </a:gridCol>
                <a:gridCol w="2165628">
                  <a:extLst>
                    <a:ext uri="{9D8B030D-6E8A-4147-A177-3AD203B41FA5}">
                      <a16:colId xmlns:a16="http://schemas.microsoft.com/office/drawing/2014/main" val="1616205681"/>
                    </a:ext>
                  </a:extLst>
                </a:gridCol>
                <a:gridCol w="2165628">
                  <a:extLst>
                    <a:ext uri="{9D8B030D-6E8A-4147-A177-3AD203B41FA5}">
                      <a16:colId xmlns:a16="http://schemas.microsoft.com/office/drawing/2014/main" val="3288615728"/>
                    </a:ext>
                  </a:extLst>
                </a:gridCol>
                <a:gridCol w="2165628">
                  <a:extLst>
                    <a:ext uri="{9D8B030D-6E8A-4147-A177-3AD203B41FA5}">
                      <a16:colId xmlns:a16="http://schemas.microsoft.com/office/drawing/2014/main" val="3712443318"/>
                    </a:ext>
                  </a:extLst>
                </a:gridCol>
                <a:gridCol w="76307">
                  <a:extLst>
                    <a:ext uri="{9D8B030D-6E8A-4147-A177-3AD203B41FA5}">
                      <a16:colId xmlns:a16="http://schemas.microsoft.com/office/drawing/2014/main" val="355501562"/>
                    </a:ext>
                  </a:extLst>
                </a:gridCol>
              </a:tblGrid>
              <a:tr h="455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program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College GPA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(mean)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(mean)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p-value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Significant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(p&lt;0.05)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Comment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&gt; College GPA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(%)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(%)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327238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A2B102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112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3.15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3.22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7.30E-03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&gt; College GPA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58.04%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40.18%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651969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A2B104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3.11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3.24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1.00E-04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&gt; College GPA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64.18%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35.82%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65312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A4B095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2.96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3.16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1.30E-04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&gt; College GPA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75.00%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25.00%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322195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A4B097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66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3.04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3.24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6.30E-09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&gt; College GPA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78.79%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21.21%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818003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A4B067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3.28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3.03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8.40E-05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15.62%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84.38%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527965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A4B075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68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3.18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2.93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1.00E-06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27.94%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72.06%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610214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A4B086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3.44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3.17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1.10E-12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8.33%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91.67%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030171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A4B096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3.31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3.12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2.40E-07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18.37%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81.63%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416738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A2B101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66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3.15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7.60E-01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42.42%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57.58%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688085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A2B103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3.03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2.50E-01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60.76%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37.97%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916732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A4B068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3.12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3.08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2.30E-01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50.00%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50.00%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454343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A4B087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3.18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3.13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2.20E-01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39.53%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60.47%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783583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A4B092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3.09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3.09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8.00E-01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55.38%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43.08%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648504"/>
                  </a:ext>
                </a:extLst>
              </a:tr>
              <a:tr h="230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A4B093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57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2.97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2.90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8.90E-02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38.60%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61.40%</a:t>
                      </a: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657296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A0E1775C-2EC7-3323-7467-ED4B9FBA2E98}"/>
              </a:ext>
            </a:extLst>
          </p:cNvPr>
          <p:cNvSpPr txBox="1"/>
          <p:nvPr/>
        </p:nvSpPr>
        <p:spPr>
          <a:xfrm>
            <a:off x="122993" y="5061584"/>
            <a:ext cx="6077856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University GPA &gt; College GPA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A4B097-BA in Heritage Education and Arts Management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A2B104–BSc in </a:t>
            </a:r>
            <a:r>
              <a:rPr lang="en-US" dirty="0"/>
              <a:t>Executive Management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A4B095–BSc in AI and EdTech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A2B102-BA in </a:t>
            </a:r>
            <a:r>
              <a:rPr lang="en-US" dirty="0"/>
              <a:t>Early Childhood &amp; Family Studies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2CFA5D-5618-65DF-0674-0747B65E2D62}"/>
              </a:ext>
            </a:extLst>
          </p:cNvPr>
          <p:cNvSpPr txBox="1"/>
          <p:nvPr/>
        </p:nvSpPr>
        <p:spPr>
          <a:xfrm>
            <a:off x="7049949" y="5061584"/>
            <a:ext cx="4753429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University GPA &lt; College GPA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A4B086-BA in Special Education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A4B096-BSc in </a:t>
            </a:r>
            <a:r>
              <a:rPr lang="en-US" dirty="0">
                <a:solidFill>
                  <a:srgbClr val="000000"/>
                </a:solidFill>
                <a:ea typeface="宋体" panose="02010600030101010101" pitchFamily="2" charset="-122"/>
              </a:rPr>
              <a:t>Sports Science and Coaching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A4B075-BSocSc </a:t>
            </a:r>
            <a:r>
              <a:rPr lang="en-US" dirty="0">
                <a:solidFill>
                  <a:srgbClr val="000000"/>
                </a:solidFill>
                <a:ea typeface="宋体" panose="02010600030101010101" pitchFamily="2" charset="-122"/>
              </a:rPr>
              <a:t>in Psychology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A4B067-BA in </a:t>
            </a:r>
            <a:r>
              <a:rPr lang="en-US" dirty="0">
                <a:solidFill>
                  <a:srgbClr val="000000"/>
                </a:solidFill>
                <a:ea typeface="宋体" panose="02010600030101010101" pitchFamily="2" charset="-122"/>
              </a:rPr>
              <a:t>Language Studies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B48B28-4BAB-0C8B-5E71-7D9E59B19AA8}"/>
              </a:ext>
            </a:extLst>
          </p:cNvPr>
          <p:cNvSpPr txBox="1"/>
          <p:nvPr/>
        </p:nvSpPr>
        <p:spPr>
          <a:xfrm>
            <a:off x="103465" y="4206928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/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Uni GPA  = Senior Students EduHK Gd GPA</a:t>
            </a:r>
          </a:p>
          <a:p>
            <a:pPr fontAlgn="b"/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College GPA = Senior Students’ Normalized College GPA</a:t>
            </a:r>
          </a:p>
        </p:txBody>
      </p:sp>
    </p:spTree>
    <p:extLst>
      <p:ext uri="{BB962C8B-B14F-4D97-AF65-F5344CB8AC3E}">
        <p14:creationId xmlns:p14="http://schemas.microsoft.com/office/powerpoint/2010/main" val="49343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7447B4-BBDD-1C20-6996-CC695992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10</a:t>
            </a:fld>
            <a:endParaRPr lang="LID4096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78D6B33-3C1C-E03F-E4FB-CBB7B6EED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4971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C384B1C-C20C-C2D9-2ADB-EDF5CF8EDC81}"/>
              </a:ext>
            </a:extLst>
          </p:cNvPr>
          <p:cNvSpPr txBox="1"/>
          <p:nvPr/>
        </p:nvSpPr>
        <p:spPr>
          <a:xfrm>
            <a:off x="122993" y="5061584"/>
            <a:ext cx="6077856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University GPA &gt; College GPA</a:t>
            </a:r>
          </a:p>
          <a:p>
            <a:pPr marL="285750" indent="-285750">
              <a:buFontTx/>
              <a:buChar char="-"/>
            </a:pPr>
            <a:r>
              <a:rPr lang="en-US" altLang="zh-CN" b="1" dirty="0"/>
              <a:t>A4B097-BA in Heritage Education and Arts Management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A2B104–BSc in </a:t>
            </a:r>
            <a:r>
              <a:rPr lang="en-US" dirty="0"/>
              <a:t>Executive Management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en-US" altLang="zh-CN" b="1" dirty="0"/>
              <a:t>A4B095–BSc in AI and EdTech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A2B102-BA in </a:t>
            </a:r>
            <a:r>
              <a:rPr lang="en-US" dirty="0"/>
              <a:t>Early Childhood &amp; Family Studies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A5A6D8-D069-E718-1025-3259AA5C967B}"/>
              </a:ext>
            </a:extLst>
          </p:cNvPr>
          <p:cNvSpPr txBox="1"/>
          <p:nvPr/>
        </p:nvSpPr>
        <p:spPr>
          <a:xfrm>
            <a:off x="7049949" y="5061584"/>
            <a:ext cx="4753429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University GPA &lt; College GPA</a:t>
            </a:r>
          </a:p>
          <a:p>
            <a:pPr marL="285750" indent="-285750">
              <a:buFontTx/>
              <a:buChar char="-"/>
            </a:pPr>
            <a:r>
              <a:rPr lang="en-US" altLang="zh-CN" b="1" dirty="0"/>
              <a:t>A4B086-BA in Special Education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A4B096-BSc in </a:t>
            </a:r>
            <a:r>
              <a:rPr lang="en-US" dirty="0">
                <a:solidFill>
                  <a:srgbClr val="000000"/>
                </a:solidFill>
                <a:ea typeface="宋体" panose="02010600030101010101" pitchFamily="2" charset="-122"/>
              </a:rPr>
              <a:t>Sports Science and Coaching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en-US" altLang="zh-CN" b="1" dirty="0"/>
              <a:t>A4B075-BSocSc </a:t>
            </a:r>
            <a:r>
              <a:rPr 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in Psychology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b="1" dirty="0"/>
              <a:t>A4B067-BA in </a:t>
            </a:r>
            <a:r>
              <a:rPr 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Language Studies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1986340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28239-2DC8-1989-09AB-A6539872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CCD2D-7271-1423-8213-1B776BF5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Descriptive &amp; Exploratory Data Analysis – College</a:t>
            </a:r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B497B4-22F2-37B8-176C-99CCE298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7244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DFB305-FC59-A1B1-A2EB-9E3C5BA6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12</a:t>
            </a:fld>
            <a:endParaRPr lang="LID4096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9F22688-7B2F-8AA1-1C4E-FC72CC4D8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040832"/>
              </p:ext>
            </p:extLst>
          </p:nvPr>
        </p:nvGraphicFramePr>
        <p:xfrm>
          <a:off x="86947" y="136525"/>
          <a:ext cx="11908203" cy="5797796"/>
        </p:xfrm>
        <a:graphic>
          <a:graphicData uri="http://schemas.openxmlformats.org/drawingml/2006/table">
            <a:tbl>
              <a:tblPr/>
              <a:tblGrid>
                <a:gridCol w="3286222">
                  <a:extLst>
                    <a:ext uri="{9D8B030D-6E8A-4147-A177-3AD203B41FA5}">
                      <a16:colId xmlns:a16="http://schemas.microsoft.com/office/drawing/2014/main" val="1047206273"/>
                    </a:ext>
                  </a:extLst>
                </a:gridCol>
                <a:gridCol w="675984">
                  <a:extLst>
                    <a:ext uri="{9D8B030D-6E8A-4147-A177-3AD203B41FA5}">
                      <a16:colId xmlns:a16="http://schemas.microsoft.com/office/drawing/2014/main" val="2879693957"/>
                    </a:ext>
                  </a:extLst>
                </a:gridCol>
                <a:gridCol w="1968833">
                  <a:extLst>
                    <a:ext uri="{9D8B030D-6E8A-4147-A177-3AD203B41FA5}">
                      <a16:colId xmlns:a16="http://schemas.microsoft.com/office/drawing/2014/main" val="2118935437"/>
                    </a:ext>
                  </a:extLst>
                </a:gridCol>
                <a:gridCol w="567948">
                  <a:extLst>
                    <a:ext uri="{9D8B030D-6E8A-4147-A177-3AD203B41FA5}">
                      <a16:colId xmlns:a16="http://schemas.microsoft.com/office/drawing/2014/main" val="2426934536"/>
                    </a:ext>
                  </a:extLst>
                </a:gridCol>
                <a:gridCol w="892030">
                  <a:extLst>
                    <a:ext uri="{9D8B030D-6E8A-4147-A177-3AD203B41FA5}">
                      <a16:colId xmlns:a16="http://schemas.microsoft.com/office/drawing/2014/main" val="2323166394"/>
                    </a:ext>
                  </a:extLst>
                </a:gridCol>
                <a:gridCol w="1115215">
                  <a:extLst>
                    <a:ext uri="{9D8B030D-6E8A-4147-A177-3AD203B41FA5}">
                      <a16:colId xmlns:a16="http://schemas.microsoft.com/office/drawing/2014/main" val="600873408"/>
                    </a:ext>
                  </a:extLst>
                </a:gridCol>
                <a:gridCol w="1340511">
                  <a:extLst>
                    <a:ext uri="{9D8B030D-6E8A-4147-A177-3AD203B41FA5}">
                      <a16:colId xmlns:a16="http://schemas.microsoft.com/office/drawing/2014/main" val="288018532"/>
                    </a:ext>
                  </a:extLst>
                </a:gridCol>
                <a:gridCol w="1149011">
                  <a:extLst>
                    <a:ext uri="{9D8B030D-6E8A-4147-A177-3AD203B41FA5}">
                      <a16:colId xmlns:a16="http://schemas.microsoft.com/office/drawing/2014/main" val="2949957631"/>
                    </a:ext>
                  </a:extLst>
                </a:gridCol>
                <a:gridCol w="912449">
                  <a:extLst>
                    <a:ext uri="{9D8B030D-6E8A-4147-A177-3AD203B41FA5}">
                      <a16:colId xmlns:a16="http://schemas.microsoft.com/office/drawing/2014/main" val="3517625935"/>
                    </a:ext>
                  </a:extLst>
                </a:gridCol>
              </a:tblGrid>
              <a:tr h="2787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College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(%)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t-stat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p-value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Significant (p&lt;0.05)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Comment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College GPA (mean)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(mean)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961407"/>
                  </a:ext>
                </a:extLst>
              </a:tr>
              <a:tr h="2787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Education University of Hong Kong / Hong Kong Institute of Education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6.25%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17.61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1.10E-31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&gt; College GPA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2.96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3.27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465113"/>
                  </a:ext>
                </a:extLst>
              </a:tr>
              <a:tr h="2787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Hong Kong Polytechnic University, Hong Kong Community College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155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20.65%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8.18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9.60E-14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&gt; College GPA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2.93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669183"/>
                  </a:ext>
                </a:extLst>
              </a:tr>
              <a:tr h="2787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UOW College Hong Kong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32.61%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2.2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3.30E-02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&gt; College GPA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2.96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3.03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939835"/>
                  </a:ext>
                </a:extLst>
              </a:tr>
              <a:tr h="2787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Chinese University of Hong Kong, School of Continuing and Professional Studies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69.23%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-3.33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1.60E-03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3.26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3.17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723372"/>
                  </a:ext>
                </a:extLst>
              </a:tr>
              <a:tr h="219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Hong Kong Baptist University, The College of International Education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92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72.83%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-4.57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1.50E-05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3.04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15250"/>
                  </a:ext>
                </a:extLst>
              </a:tr>
              <a:tr h="401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Hong Kong Metropolitan University, Li Ka Shing School of Professional and Continuing Education/The Hong Kong Learning Community College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37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94.59%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-8.33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6.50E-10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3.37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3.03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112444"/>
                  </a:ext>
                </a:extLst>
              </a:tr>
              <a:tr h="2787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University of Hong Kong, SPACE Community College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179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59.22%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-3.33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1.00E-03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3.15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3.08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584218"/>
                  </a:ext>
                </a:extLst>
              </a:tr>
              <a:tr h="2787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University of Hong Kong, SPACE Po Leung Kuk Stanley Ho Community College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78.85%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-6.04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1.80E-07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3.29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3.02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685936"/>
                  </a:ext>
                </a:extLst>
              </a:tr>
              <a:tr h="2787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Vocational Training Council, The Hong Kong Institute of Vocational Education (IVE)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71.43%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-5.66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1.40E-07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Uni GPA &lt; College GPA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3.31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3.18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177664"/>
                  </a:ext>
                </a:extLst>
              </a:tr>
              <a:tr h="2787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Hong Kong Shue Yan University (formerly known as Hong Kong Shue Yan College)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55.56%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9.30E-01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3.21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37645"/>
                  </a:ext>
                </a:extLst>
              </a:tr>
              <a:tr h="1403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Others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58.82%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-0.9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3.70E-01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3.19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296125"/>
                  </a:ext>
                </a:extLst>
              </a:tr>
              <a:tr h="2787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Vocational Training Council, Hong Kong Design Institute</a:t>
                      </a:r>
                    </a:p>
                  </a:txBody>
                  <a:tcPr marL="2852" marR="2852" marT="285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41.67%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1.48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1.70E-01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3.11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Hans-HK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marL="2852" marR="2852" marT="28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561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258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2D10C6-1C91-7197-C827-4ED05D53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13</a:t>
            </a:fld>
            <a:endParaRPr lang="LID4096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769AA42-E144-EB89-01B9-345225943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54" y="0"/>
            <a:ext cx="9961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153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DE6EA-CB64-A2DB-58A3-0583B180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6D20F-BAD0-A986-B99B-6094C57A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quick verification of the predictive task 1 (Predict Yr 2 GPA)</a:t>
            </a:r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2D6098-6A64-5E91-81D6-C9E6A6C2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56767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D1F93B-63C1-293B-4450-14B6BA99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15</a:t>
            </a:fld>
            <a:endParaRPr lang="LID4096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E85428-985C-4C08-EBC6-B097C8168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864" y="3825915"/>
            <a:ext cx="4928638" cy="276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9005338-D37F-F926-8A89-4D0046669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177"/>
            <a:ext cx="8482739" cy="268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95E8870-89E6-88FF-B57E-F0B2C6CF6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35" y="2752064"/>
            <a:ext cx="3998563" cy="399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F045021-24C9-C8B3-87E1-C6443F094A91}"/>
              </a:ext>
            </a:extLst>
          </p:cNvPr>
          <p:cNvSpPr txBox="1"/>
          <p:nvPr/>
        </p:nvSpPr>
        <p:spPr>
          <a:xfrm>
            <a:off x="958311" y="3069215"/>
            <a:ext cx="2172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Miss Detect out of 7 At-Risk</a:t>
            </a:r>
            <a:endParaRPr lang="LID4096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712EA7-CB98-D2E0-715C-CF812A6FD7FA}"/>
              </a:ext>
            </a:extLst>
          </p:cNvPr>
          <p:cNvSpPr txBox="1"/>
          <p:nvPr/>
        </p:nvSpPr>
        <p:spPr>
          <a:xfrm>
            <a:off x="9332118" y="136525"/>
            <a:ext cx="27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 Cohort 2022, N=451;</a:t>
            </a:r>
          </a:p>
          <a:p>
            <a:r>
              <a:rPr lang="en-US" dirty="0"/>
              <a:t>Test Cohort 2023, N=442</a:t>
            </a:r>
          </a:p>
          <a:p>
            <a:endParaRPr lang="en-US" dirty="0"/>
          </a:p>
          <a:p>
            <a:r>
              <a:rPr lang="en-US" dirty="0"/>
              <a:t>14 Programs, </a:t>
            </a:r>
          </a:p>
          <a:p>
            <a:r>
              <a:rPr lang="en-US" dirty="0"/>
              <a:t>7 At-Risk in Cohort 2023</a:t>
            </a:r>
          </a:p>
          <a:p>
            <a:r>
              <a:rPr lang="en-US" dirty="0"/>
              <a:t>-2 Miss Detect</a:t>
            </a:r>
          </a:p>
          <a:p>
            <a:r>
              <a:rPr lang="en-US" dirty="0"/>
              <a:t>-10 False Alarms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893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9F224-3DED-1A6B-AB26-E6C49E4F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6C8ED5-96EE-6379-0DC8-84BCD353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2952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CB2B2E7-0CFB-CA85-04FD-C2063E8F6B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842" y="4035887"/>
            <a:ext cx="3045350" cy="262153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E6868B0-30D8-D662-5AE6-A144E07A99B1}"/>
              </a:ext>
            </a:extLst>
          </p:cNvPr>
          <p:cNvSpPr txBox="1"/>
          <p:nvPr/>
        </p:nvSpPr>
        <p:spPr>
          <a:xfrm>
            <a:off x="65314" y="1271477"/>
            <a:ext cx="709022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000" b="1" dirty="0">
                <a:latin typeface="+mj-ea"/>
                <a:ea typeface="+mj-ea"/>
              </a:rPr>
              <a:t>【</a:t>
            </a:r>
            <a:r>
              <a:rPr lang="zh-CN" altLang="en-US" sz="6000" b="1" dirty="0">
                <a:latin typeface="+mj-ea"/>
                <a:ea typeface="+mj-ea"/>
              </a:rPr>
              <a:t>自制软件</a:t>
            </a:r>
            <a:r>
              <a:rPr lang="en-US" altLang="zh-CN" sz="6000" b="1" dirty="0">
                <a:latin typeface="+mj-ea"/>
                <a:ea typeface="+mj-ea"/>
              </a:rPr>
              <a:t>】</a:t>
            </a:r>
            <a:r>
              <a:rPr lang="zh-CN" altLang="en-US" sz="6000" b="1" dirty="0">
                <a:latin typeface="+mj-ea"/>
                <a:ea typeface="+mj-ea"/>
              </a:rPr>
              <a:t>打工人桌面健康小助手</a:t>
            </a:r>
            <a:endParaRPr lang="en-US" altLang="zh-CN" sz="6000" b="1" dirty="0">
              <a:latin typeface="+mj-ea"/>
              <a:ea typeface="+mj-ea"/>
            </a:endParaRPr>
          </a:p>
          <a:p>
            <a:endParaRPr lang="en-US" altLang="zh-CN" sz="6000" b="1" dirty="0">
              <a:latin typeface="+mj-ea"/>
              <a:ea typeface="+mj-ea"/>
            </a:endParaRPr>
          </a:p>
          <a:p>
            <a:r>
              <a:rPr lang="zh-CN" altLang="en-US" sz="4800" b="1" dirty="0">
                <a:solidFill>
                  <a:srgbClr val="0070C0"/>
                </a:solidFill>
                <a:highlight>
                  <a:srgbClr val="FFFF00"/>
                </a:highlight>
                <a:latin typeface="+mj-ea"/>
                <a:ea typeface="+mj-ea"/>
              </a:rPr>
              <a:t>自动喝水</a:t>
            </a:r>
            <a:r>
              <a:rPr lang="zh-CN" altLang="en-US" sz="4800" b="1" dirty="0">
                <a:solidFill>
                  <a:srgbClr val="0070C0"/>
                </a:solidFill>
                <a:latin typeface="+mj-ea"/>
                <a:ea typeface="+mj-ea"/>
              </a:rPr>
              <a:t>提醒＋</a:t>
            </a:r>
            <a:r>
              <a:rPr lang="zh-CN" altLang="en-US" sz="4800" b="1" dirty="0">
                <a:solidFill>
                  <a:srgbClr val="0070C0"/>
                </a:solidFill>
                <a:highlight>
                  <a:srgbClr val="FFFF00"/>
                </a:highlight>
                <a:latin typeface="+mj-ea"/>
                <a:ea typeface="+mj-ea"/>
              </a:rPr>
              <a:t>久坐</a:t>
            </a:r>
            <a:r>
              <a:rPr lang="zh-CN" altLang="en-US" sz="4800" b="1" dirty="0">
                <a:solidFill>
                  <a:srgbClr val="0070C0"/>
                </a:solidFill>
                <a:latin typeface="+mj-ea"/>
                <a:ea typeface="+mj-ea"/>
              </a:rPr>
              <a:t>弹窗</a:t>
            </a:r>
            <a:endParaRPr lang="LID4096" sz="44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A5E246A-EF9B-B0CC-7DCF-554F820015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230842" y="1069238"/>
            <a:ext cx="3916129" cy="2693039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A992E1C-EF6F-C96B-1E82-36C192538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208" y="2694787"/>
            <a:ext cx="435968" cy="43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720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243163-B021-F1A2-9D05-33381C53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AF8D-6083-41CF-A859-E70F96C54D0C}" type="slidenum">
              <a:rPr lang="LID4096" smtClean="0"/>
              <a:t>18</a:t>
            </a:fld>
            <a:endParaRPr lang="LID4096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49693A4-F247-B328-7FD4-95C2985BE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271" y="65313"/>
            <a:ext cx="5846470" cy="66014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3104E30-5164-3B1E-F7ED-E08831227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314"/>
            <a:ext cx="5846470" cy="661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04897"/>
      </p:ext>
    </p:extLst>
  </p:cSld>
  <p:clrMapOvr>
    <a:masterClrMapping/>
  </p:clrMapOvr>
</p:sld>
</file>

<file path=ppt/theme/theme1.xml><?xml version="1.0" encoding="utf-8"?>
<a:theme xmlns:a="http://schemas.openxmlformats.org/drawingml/2006/main" name="红利">
  <a:themeElements>
    <a:clrScheme name="红利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25932</TotalTime>
  <Words>1448</Words>
  <Application>Microsoft Office PowerPoint</Application>
  <PresentationFormat>宽屏</PresentationFormat>
  <Paragraphs>497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宋体</vt:lpstr>
      <vt:lpstr>Arial</vt:lpstr>
      <vt:lpstr>Calibri</vt:lpstr>
      <vt:lpstr>Gill Sans MT</vt:lpstr>
      <vt:lpstr>Times New Roman</vt:lpstr>
      <vt:lpstr>Wingdings 2</vt:lpstr>
      <vt:lpstr>红利</vt:lpstr>
      <vt:lpstr>PowerPoint 演示文稿</vt:lpstr>
      <vt:lpstr>PowerPoint 演示文稿</vt:lpstr>
      <vt:lpstr>CRAC: Cleaning Data for: Registry Senior Intake Students</vt:lpstr>
      <vt:lpstr>PowerPoint 演示文稿</vt:lpstr>
      <vt:lpstr>Possible Analysis for Senior Students Data</vt:lpstr>
      <vt:lpstr>Descriptive &amp; Exploratory Data Analysis</vt:lpstr>
      <vt:lpstr>Descriptive &amp; Exploratory Data Analysis – Program Specific</vt:lpstr>
      <vt:lpstr>PowerPoint 演示文稿</vt:lpstr>
      <vt:lpstr>PowerPoint 演示文稿</vt:lpstr>
      <vt:lpstr>PowerPoint 演示文稿</vt:lpstr>
      <vt:lpstr>Descriptive &amp; Exploratory Data Analysis – College</vt:lpstr>
      <vt:lpstr>PowerPoint 演示文稿</vt:lpstr>
      <vt:lpstr>PowerPoint 演示文稿</vt:lpstr>
      <vt:lpstr>A quick verification of the predictive task 1 (Predict Yr 2 GPA)</vt:lpstr>
      <vt:lpstr>PowerPoint 演示文稿</vt:lpstr>
      <vt:lpstr>END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DONG, Chenxi [MIT]</dc:creator>
  <cp:lastModifiedBy>DONG, Chenxi [MIT]</cp:lastModifiedBy>
  <cp:revision>61</cp:revision>
  <dcterms:created xsi:type="dcterms:W3CDTF">2025-06-26T09:18:27Z</dcterms:created>
  <dcterms:modified xsi:type="dcterms:W3CDTF">2025-11-11T12:04:17Z</dcterms:modified>
</cp:coreProperties>
</file>